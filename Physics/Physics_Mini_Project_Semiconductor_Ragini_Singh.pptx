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/>
            </a:pPr>
            <a:r>
              <a:t>SEMICONDUCTOR PHYSICS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0"/>
            </a:pPr>
            <a:r>
              <a:t>Fundamentals • PN Junction • Diode • Modern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7033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/>
            </a:pPr>
            <a:r>
              <a:t>PHYSICS MINI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25196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/>
            </a:pPr>
            <a:r>
              <a:t>Ragini Singh  |  Roll No. 150096724023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/>
            </a:pPr>
            <a:r>
              <a:t>01  •  Why Semiconductors Matter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/>
            </a:pPr>
            <a:r>
              <a:t>The invisible foundation of modern electronics.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• Their conductivity can be controlled.</a:t>
            </a:r>
          </a:p>
          <a:p>
            <a:pPr>
              <a:spcAft>
                <a:spcPts val="1000"/>
              </a:spcAft>
              <a:defRPr sz="2000"/>
            </a:pPr>
            <a:r>
              <a:t>• They can act as switches, rectifiers, amplifiers and light emitters.</a:t>
            </a:r>
          </a:p>
          <a:p>
            <a:pPr>
              <a:spcAft>
                <a:spcPts val="1000"/>
              </a:spcAft>
              <a:defRPr sz="2000"/>
            </a:pPr>
            <a:r>
              <a:t>• They enable tiny, fast and energy-efficient electronic systems.</a:t>
            </a:r>
          </a:p>
          <a:p>
            <a:pPr>
              <a:spcAft>
                <a:spcPts val="1000"/>
              </a:spcAft>
              <a:defRPr sz="2000"/>
            </a:pPr>
            <a:r>
              <a:t>• They power computers, phones, sensors, solar cells and many modern technologies.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/>
            </a:pPr>
            <a:r>
              <a:t>02  •  What Is a Semiconductor?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/>
            </a:pPr>
            <a:r>
              <a:t>A material with electrical conductivity between a conductor and an insulator.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• Common materials: silicon and germanium.</a:t>
            </a:r>
          </a:p>
          <a:p>
            <a:pPr>
              <a:spcAft>
                <a:spcPts val="1000"/>
              </a:spcAft>
              <a:defRPr sz="2000"/>
            </a:pPr>
            <a:r>
              <a:t>• Conductivity changes with temperature, light and doping.</a:t>
            </a:r>
          </a:p>
          <a:p>
            <a:pPr>
              <a:spcAft>
                <a:spcPts val="1000"/>
              </a:spcAft>
              <a:defRPr sz="2000"/>
            </a:pPr>
            <a:r>
              <a:t>• Charge carriers are electrons and holes.</a:t>
            </a:r>
          </a:p>
          <a:p>
            <a:pPr>
              <a:spcAft>
                <a:spcPts val="1000"/>
              </a:spcAft>
              <a:defRPr sz="2000"/>
            </a:pPr>
            <a:r>
              <a:t>• This controllability is the key to semiconductor technology.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/>
            </a:pPr>
            <a:r>
              <a:t>03  •  Energy Bands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/>
            </a:pPr>
            <a:r>
              <a:t>The band gap explains why semiconductor behaviour is controllable.</a:t>
            </a:r>
          </a:p>
        </p:txBody>
      </p:sp>
      <p:pic>
        <p:nvPicPr>
          <p:cNvPr id="4" name="Picture 3" descr="semiconductor_energy_ba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6400800" cy="315988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0" y="1417320"/>
            <a:ext cx="4206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/>
            </a:pPr>
            <a:r>
              <a:t>• Valence band → electrons are normally bound.</a:t>
            </a:r>
          </a:p>
          <a:p>
            <a:pPr>
              <a:spcAft>
                <a:spcPts val="1000"/>
              </a:spcAft>
              <a:defRPr sz="1600"/>
            </a:pPr>
            <a:r>
              <a:t>• Conduction band → electrons can contribute to conduction.</a:t>
            </a:r>
          </a:p>
          <a:p>
            <a:pPr>
              <a:spcAft>
                <a:spcPts val="1000"/>
              </a:spcAft>
              <a:defRPr sz="1600"/>
            </a:pPr>
            <a:r>
              <a:t>• Band gap (Eg) → energy needed to move an electron across the gap.</a:t>
            </a:r>
          </a:p>
          <a:p>
            <a:pPr>
              <a:spcAft>
                <a:spcPts val="1000"/>
              </a:spcAft>
              <a:defRPr sz="1600"/>
            </a:pPr>
            <a:r>
              <a:t>• Thermal or optical energy can create electron–hole pairs.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/>
            </a:pPr>
            <a:r>
              <a:t>04  •  Intrinsic vs Extrinsic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/>
            </a:pPr>
            <a:r>
              <a:t>Purity versus engineered conductivity.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• Intrinsic → pure semiconductor; electrons and holes are generated thermally.</a:t>
            </a:r>
          </a:p>
          <a:p>
            <a:pPr>
              <a:spcAft>
                <a:spcPts val="1000"/>
              </a:spcAft>
              <a:defRPr sz="1900"/>
            </a:pPr>
            <a:r>
              <a:t>• Extrinsic → intentionally doped semiconductor.</a:t>
            </a:r>
          </a:p>
          <a:p>
            <a:pPr>
              <a:spcAft>
                <a:spcPts val="1000"/>
              </a:spcAft>
              <a:defRPr sz="1900"/>
            </a:pPr>
            <a:r>
              <a:t>• Doping changes carrier concentration without changing the material into a metal.</a:t>
            </a:r>
          </a:p>
          <a:p>
            <a:pPr>
              <a:spcAft>
                <a:spcPts val="1000"/>
              </a:spcAft>
              <a:defRPr sz="1900"/>
            </a:pPr>
            <a:r>
              <a:t>• This is the basis for engineering P-type and N-type regions.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/>
            </a:pPr>
            <a:r>
              <a:t>05  •  Doping: P-Type and N-Type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/>
            </a:pPr>
            <a:r>
              <a:t>A tiny amount of impurity creates a major change in electrical behaviour.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5029200" cy="34747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 b="1"/>
            </a:pPr>
            <a:r>
              <a:t>P-TYPE</a:t>
            </a:r>
          </a:p>
          <a:p>
            <a:pPr algn="ctr">
              <a:spcAft>
                <a:spcPts val="800"/>
              </a:spcAft>
              <a:defRPr sz="1800"/>
            </a:pPr>
            <a:r>
              <a:t>Trivalent dopant</a:t>
            </a:r>
          </a:p>
          <a:p>
            <a:pPr algn="ctr">
              <a:spcAft>
                <a:spcPts val="800"/>
              </a:spcAft>
              <a:defRPr sz="1800"/>
            </a:pPr>
            <a:r>
              <a:t>Example: boron</a:t>
            </a:r>
          </a:p>
          <a:p>
            <a:pPr algn="ctr">
              <a:spcAft>
                <a:spcPts val="800"/>
              </a:spcAft>
              <a:defRPr sz="1800"/>
            </a:pPr>
            <a:r>
              <a:t>Majority carriers: holes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508760"/>
            <a:ext cx="5029200" cy="34747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 b="1"/>
            </a:pPr>
            <a:r>
              <a:t>N-TYPE</a:t>
            </a:r>
          </a:p>
          <a:p>
            <a:pPr algn="ctr">
              <a:spcAft>
                <a:spcPts val="800"/>
              </a:spcAft>
              <a:defRPr sz="1800"/>
            </a:pPr>
            <a:r>
              <a:t>Pentavalent dopant</a:t>
            </a:r>
          </a:p>
          <a:p>
            <a:pPr algn="ctr">
              <a:spcAft>
                <a:spcPts val="800"/>
              </a:spcAft>
              <a:defRPr sz="1800"/>
            </a:pPr>
            <a:r>
              <a:t>Example: phosphorus</a:t>
            </a:r>
          </a:p>
          <a:p>
            <a:pPr algn="ctr">
              <a:spcAft>
                <a:spcPts val="800"/>
              </a:spcAft>
              <a:defRPr sz="1800"/>
            </a:pPr>
            <a:r>
              <a:t>Majority carriers: electrons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/>
            </a:pPr>
            <a:r>
              <a:t>06  •  PN Junction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/>
            </a:pPr>
            <a:r>
              <a:t>Joining P-type and N-type regions creates a device-building boundary.</a:t>
            </a:r>
          </a:p>
        </p:txBody>
      </p:sp>
      <p:pic>
        <p:nvPicPr>
          <p:cNvPr id="4" name="Picture 3" descr="pn_junction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71600"/>
            <a:ext cx="6400800" cy="299784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269480" y="1417320"/>
            <a:ext cx="42976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t>• Electrons diffuse from N toward P.</a:t>
            </a:r>
          </a:p>
          <a:p>
            <a:pPr>
              <a:spcAft>
                <a:spcPts val="1000"/>
              </a:spcAft>
              <a:defRPr sz="1700"/>
            </a:pPr>
            <a:r>
              <a:t>• Holes diffuse from P toward N.</a:t>
            </a:r>
          </a:p>
          <a:p>
            <a:pPr>
              <a:spcAft>
                <a:spcPts val="1000"/>
              </a:spcAft>
              <a:defRPr sz="1700"/>
            </a:pPr>
            <a:r>
              <a:t>• Recombination leaves fixed ions near the junction.</a:t>
            </a:r>
          </a:p>
          <a:p>
            <a:pPr>
              <a:spcAft>
                <a:spcPts val="1000"/>
              </a:spcAft>
              <a:defRPr sz="1700"/>
            </a:pPr>
            <a:r>
              <a:t>• This creates the depletion region and a built-in electric field.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/>
            </a:pPr>
            <a:r>
              <a:t>07  •  Semiconductor Diode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/>
            </a:pPr>
            <a:r>
              <a:t>A PN junction designed mainly for controlled one-way current flow.</a:t>
            </a:r>
          </a:p>
        </p:txBody>
      </p:sp>
      <p:pic>
        <p:nvPicPr>
          <p:cNvPr id="4" name="Picture 3" descr="pn_diod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6217920" cy="25973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0" y="141732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/>
            </a:pPr>
            <a:r>
              <a:t>• Forward bias → depletion region narrows → current flows readily.</a:t>
            </a:r>
          </a:p>
          <a:p>
            <a:pPr>
              <a:spcAft>
                <a:spcPts val="1000"/>
              </a:spcAft>
              <a:defRPr sz="1600"/>
            </a:pPr>
            <a:r>
              <a:t>• Reverse bias → depletion region widens → current is strongly limited.</a:t>
            </a:r>
          </a:p>
          <a:p>
            <a:pPr>
              <a:spcAft>
                <a:spcPts val="1000"/>
              </a:spcAft>
              <a:defRPr sz="1600"/>
            </a:pPr>
            <a:r>
              <a:t>• Used for rectification, protection and signal control.</a:t>
            </a:r>
          </a:p>
          <a:p>
            <a:pPr>
              <a:spcAft>
                <a:spcPts val="1000"/>
              </a:spcAft>
              <a:defRPr sz="1600"/>
            </a:pPr>
            <a:r>
              <a:t>• Diode behaviour is the first step toward understanding many semiconductor devices.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/>
            </a:pPr>
            <a:r>
              <a:t>08  •  Important Principles &amp; Equations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/>
            </a:pPr>
            <a:r>
              <a:t>Focus on physical meaning, not memorisation alone.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• Semiconductor conduction depends on charge carriers.</a:t>
            </a:r>
          </a:p>
          <a:p>
            <a:pPr>
              <a:spcAft>
                <a:spcPts val="1000"/>
              </a:spcAft>
              <a:defRPr sz="1900"/>
            </a:pPr>
            <a:r>
              <a:t>• Doping controls carrier concentration.</a:t>
            </a:r>
          </a:p>
          <a:p>
            <a:pPr>
              <a:spcAft>
                <a:spcPts val="1000"/>
              </a:spcAft>
              <a:defRPr sz="1900"/>
            </a:pPr>
            <a:r>
              <a:t>• Diode equation: I = I₀[e^(qV/ηkT) − 1].</a:t>
            </a:r>
          </a:p>
          <a:p>
            <a:pPr>
              <a:spcAft>
                <a:spcPts val="1000"/>
              </a:spcAft>
              <a:defRPr sz="1900"/>
            </a:pPr>
            <a:r>
              <a:t>• Photon energy: E = hf — important in optoelectronic devices.</a:t>
            </a:r>
          </a:p>
          <a:p>
            <a:pPr>
              <a:spcAft>
                <a:spcPts val="1000"/>
              </a:spcAft>
              <a:defRPr sz="1900"/>
            </a:pPr>
            <a:r>
              <a:t>• Core idea: controlled carriers → controlled current → useful device.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/>
            </a:pPr>
            <a:r>
              <a:t>09  •  Real-Life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/>
            </a:pPr>
            <a:r>
              <a:t>From a single diode to billions of transistors on a chip.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t>• Diodes — rectifiers and circuit protection</a:t>
            </a:r>
          </a:p>
          <a:p>
            <a:pPr>
              <a:spcAft>
                <a:spcPts val="1000"/>
              </a:spcAft>
              <a:defRPr sz="1700"/>
            </a:pPr>
            <a:r>
              <a:t>• Transistors — switching and amplification</a:t>
            </a:r>
          </a:p>
          <a:p>
            <a:pPr>
              <a:spcAft>
                <a:spcPts val="1000"/>
              </a:spcAft>
              <a:defRPr sz="1700"/>
            </a:pPr>
            <a:r>
              <a:t>• LEDs — electrical energy to light</a:t>
            </a:r>
          </a:p>
          <a:p>
            <a:pPr>
              <a:spcAft>
                <a:spcPts val="1000"/>
              </a:spcAft>
              <a:defRPr sz="1700"/>
            </a:pPr>
            <a:r>
              <a:t>• Solar cells — light to electrical energy</a:t>
            </a:r>
          </a:p>
          <a:p>
            <a:pPr>
              <a:spcAft>
                <a:spcPts val="1000"/>
              </a:spcAft>
              <a:defRPr sz="1700"/>
            </a:pPr>
            <a:r>
              <a:t>• Integrated circuits — computing and control</a:t>
            </a:r>
          </a:p>
          <a:p>
            <a:pPr>
              <a:spcAft>
                <a:spcPts val="1000"/>
              </a:spcAft>
              <a:defRPr sz="1700"/>
            </a:pPr>
            <a:r>
              <a:t>• Sensors — light, temperature, magnetic and chemical sensing</a:t>
            </a:r>
          </a:p>
          <a:p>
            <a:pPr>
              <a:spcAft>
                <a:spcPts val="1000"/>
              </a:spcAft>
              <a:defRPr sz="1700"/>
            </a:pPr>
            <a:r>
              <a:t>• Power electronics — chargers, inverters and electric systems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/>
            </a:pPr>
            <a:r>
              <a:t>10  •  Modern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/>
            </a:pPr>
            <a:r>
              <a:t>Semiconductor physics drives the technology around 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• Microprocessors and memory chips</a:t>
            </a:r>
          </a:p>
          <a:p>
            <a:pPr>
              <a:spcAft>
                <a:spcPts val="1000"/>
              </a:spcAft>
              <a:defRPr sz="1800"/>
            </a:pPr>
            <a:r>
              <a:t>• Smartphones and communication hardware</a:t>
            </a:r>
          </a:p>
          <a:p>
            <a:pPr>
              <a:spcAft>
                <a:spcPts val="1000"/>
              </a:spcAft>
              <a:defRPr sz="1800"/>
            </a:pPr>
            <a:r>
              <a:t>• Artificial-intelligence accelerators</a:t>
            </a:r>
          </a:p>
          <a:p>
            <a:pPr>
              <a:spcAft>
                <a:spcPts val="1000"/>
              </a:spcAft>
              <a:defRPr sz="1800"/>
            </a:pPr>
            <a:r>
              <a:t>• Electric vehicles and battery-management systems</a:t>
            </a:r>
          </a:p>
          <a:p>
            <a:pPr>
              <a:spcAft>
                <a:spcPts val="1000"/>
              </a:spcAft>
              <a:defRPr sz="1800"/>
            </a:pPr>
            <a:r>
              <a:t>• Solar power and power converters</a:t>
            </a:r>
          </a:p>
          <a:p>
            <a:pPr>
              <a:spcAft>
                <a:spcPts val="1000"/>
              </a:spcAft>
              <a:defRPr sz="1800"/>
            </a:pPr>
            <a:r>
              <a:t>• SiC and GaN devices for high-efficiency power electronics</a:t>
            </a:r>
          </a:p>
          <a:p>
            <a:pPr>
              <a:spcAft>
                <a:spcPts val="1000"/>
              </a:spcAft>
              <a:defRPr sz="1800"/>
            </a:pPr>
            <a:r>
              <a:t>• Advanced optical and sensing systems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/>
            </a:pPr>
            <a:r>
              <a:t>11  •  Advantages &amp;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/>
            </a:pPr>
            <a:r>
              <a:t>Why semiconductor technology is powerful — and what engineers must manage.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• ✓ Small size and very high integration</a:t>
            </a:r>
          </a:p>
          <a:p>
            <a:pPr>
              <a:spcAft>
                <a:spcPts val="1000"/>
              </a:spcAft>
              <a:defRPr sz="1800"/>
            </a:pPr>
            <a:r>
              <a:t>• ✓ Fast switching and low power in many applications</a:t>
            </a:r>
          </a:p>
          <a:p>
            <a:pPr>
              <a:spcAft>
                <a:spcPts val="1000"/>
              </a:spcAft>
              <a:defRPr sz="1800"/>
            </a:pPr>
            <a:r>
              <a:t>• ✓ Conductivity can be precisely engineered</a:t>
            </a:r>
          </a:p>
          <a:p>
            <a:pPr>
              <a:spcAft>
                <a:spcPts val="1000"/>
              </a:spcAft>
              <a:defRPr sz="1800"/>
            </a:pPr>
            <a:r>
              <a:t>• ⚠ Excessive heat can affect performance and reliability</a:t>
            </a:r>
          </a:p>
          <a:p>
            <a:pPr>
              <a:spcAft>
                <a:spcPts val="1000"/>
              </a:spcAft>
              <a:defRPr sz="1800"/>
            </a:pPr>
            <a:r>
              <a:t>• ⚠ Fabrication requires high precision and controlled environments</a:t>
            </a:r>
          </a:p>
          <a:p>
            <a:pPr>
              <a:spcAft>
                <a:spcPts val="1000"/>
              </a:spcAft>
              <a:defRPr sz="1800"/>
            </a:pPr>
            <a:r>
              <a:t>• ⚠ Advanced devices can be complex and expensive to manufacture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/>
            </a:pPr>
            <a:r>
              <a:t>12  •  Viva Ready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/>
            </a:pPr>
            <a:r>
              <a:t>Likely conceptual questions from the faculty.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t>• What is a semiconductor?</a:t>
            </a:r>
          </a:p>
          <a:p>
            <a:pPr>
              <a:spcAft>
                <a:spcPts val="1000"/>
              </a:spcAft>
              <a:defRPr sz="1700"/>
            </a:pPr>
            <a:r>
              <a:t>• Why is silicon widely used?</a:t>
            </a:r>
          </a:p>
          <a:p>
            <a:pPr>
              <a:spcAft>
                <a:spcPts val="1000"/>
              </a:spcAft>
              <a:defRPr sz="1700"/>
            </a:pPr>
            <a:r>
              <a:t>• What is doping?</a:t>
            </a:r>
          </a:p>
          <a:p>
            <a:pPr>
              <a:spcAft>
                <a:spcPts val="1000"/>
              </a:spcAft>
              <a:defRPr sz="1700"/>
            </a:pPr>
            <a:r>
              <a:t>• Difference between P-type and N-type?</a:t>
            </a:r>
          </a:p>
          <a:p>
            <a:pPr>
              <a:spcAft>
                <a:spcPts val="1000"/>
              </a:spcAft>
              <a:defRPr sz="1700"/>
            </a:pPr>
            <a:r>
              <a:t>• What is a PN junction?</a:t>
            </a:r>
          </a:p>
          <a:p>
            <a:pPr>
              <a:spcAft>
                <a:spcPts val="1000"/>
              </a:spcAft>
              <a:defRPr sz="1700"/>
            </a:pPr>
            <a:r>
              <a:t>• What is the depletion region?</a:t>
            </a:r>
          </a:p>
          <a:p>
            <a:pPr>
              <a:spcAft>
                <a:spcPts val="1000"/>
              </a:spcAft>
              <a:defRPr sz="1700"/>
            </a:pPr>
            <a:r>
              <a:t>• Why does a diode conduct mainly in one direction?</a:t>
            </a:r>
          </a:p>
          <a:p>
            <a:pPr>
              <a:spcAft>
                <a:spcPts val="1000"/>
              </a:spcAft>
              <a:defRPr sz="1700"/>
            </a:pPr>
            <a:r>
              <a:t>• Where are semiconductors used?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/>
            </a:pPr>
            <a:r>
              <a:t>13  • 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/>
            </a:pPr>
            <a:r>
              <a:t>Controlling charge carriers made modern electronics possible.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• Semiconductors have controllable electrical conductivity.</a:t>
            </a:r>
          </a:p>
          <a:p>
            <a:pPr>
              <a:spcAft>
                <a:spcPts val="1000"/>
              </a:spcAft>
              <a:defRPr sz="1900"/>
            </a:pPr>
            <a:r>
              <a:t>• Energy bands and the band gap explain their behaviour.</a:t>
            </a:r>
          </a:p>
          <a:p>
            <a:pPr>
              <a:spcAft>
                <a:spcPts val="1000"/>
              </a:spcAft>
              <a:defRPr sz="1900"/>
            </a:pPr>
            <a:r>
              <a:t>• Doping creates P-type and N-type materials.</a:t>
            </a:r>
          </a:p>
          <a:p>
            <a:pPr>
              <a:spcAft>
                <a:spcPts val="1000"/>
              </a:spcAft>
              <a:defRPr sz="1900"/>
            </a:pPr>
            <a:r>
              <a:t>• PN junctions enable diodes and many other devices.</a:t>
            </a:r>
          </a:p>
          <a:p>
            <a:pPr>
              <a:spcAft>
                <a:spcPts val="1000"/>
              </a:spcAft>
              <a:defRPr sz="1900"/>
            </a:pPr>
            <a:r>
              <a:t>• Semiconductor technology connects fundamental physics to computing, communication, energy and sensing.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/>
            </a:pPr>
            <a:r>
              <a:t>14  • 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/>
            </a:pPr>
            <a:r>
              <a:t>Sources for conceptual preparation and the report.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• NCERT — Physics Class XII: Semiconductor Electronics.</a:t>
            </a:r>
          </a:p>
          <a:p>
            <a:pPr>
              <a:spcAft>
                <a:spcPts val="1000"/>
              </a:spcAft>
              <a:defRPr sz="1800"/>
            </a:pPr>
            <a:r>
              <a:t>• NCERT — Science Class X: foundational electricity concepts.</a:t>
            </a:r>
          </a:p>
          <a:p>
            <a:pPr>
              <a:spcAft>
                <a:spcPts val="1000"/>
              </a:spcAft>
              <a:defRPr sz="1800"/>
            </a:pPr>
            <a:r>
              <a:t>• OpenStax — University Physics: semiconductor and electronic-device concepts.</a:t>
            </a:r>
          </a:p>
          <a:p>
            <a:pPr>
              <a:spcAft>
                <a:spcPts val="1000"/>
              </a:spcAft>
              <a:defRPr sz="1800"/>
            </a:pPr>
            <a:r>
              <a:t>• S. M. Sze &amp; Kwok K. Ng — Physics of Semiconductor Devices.</a:t>
            </a:r>
          </a:p>
          <a:p>
            <a:pPr>
              <a:spcAft>
                <a:spcPts val="1000"/>
              </a:spcAft>
              <a:defRPr sz="1800"/>
            </a:pPr>
            <a:r>
              <a:t>• Boylestad &amp; Nashelsky — Electronic Devices and Circuit Theory.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96596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/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06324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0"/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