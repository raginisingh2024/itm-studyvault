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694944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D918E"/>
                </a:solidFill>
                <a:latin typeface="Aptos"/>
              </a:defRPr>
            </a:pPr>
            <a:r>
              <a:t>MACHINE LEARNING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7498079" cy="12801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62338"/>
                </a:solidFill>
                <a:latin typeface="Aptos"/>
              </a:defRPr>
            </a:pPr>
            <a:r>
              <a:t>Customer Purchase</a:t>
            </a:r>
          </a:p>
          <a:p>
            <a:pPr algn="l">
              <a:spcAft>
                <a:spcPts val="400"/>
              </a:spcAft>
              <a:defRPr sz="3000" b="1">
                <a:solidFill>
                  <a:srgbClr val="162338"/>
                </a:solidFill>
                <a:latin typeface="Aptos"/>
              </a:defRPr>
            </a:pPr>
            <a:r>
              <a:t>Prediction from 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06040"/>
            <a:ext cx="594360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68778C"/>
                </a:solidFill>
                <a:latin typeface="Aptos"/>
              </a:defRPr>
            </a:pPr>
            <a:r>
              <a:t>Predicting whether a customer is likely to make a purchase using supervised machine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383280"/>
            <a:ext cx="1965960" cy="438912"/>
          </a:xfrm>
          <a:prstGeom prst="roundRect">
            <a:avLst/>
          </a:prstGeom>
          <a:solidFill>
            <a:srgbClr val="EFF3F8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93008"/>
            <a:ext cx="164592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62338"/>
                </a:solidFill>
                <a:latin typeface="Aptos"/>
              </a:defRPr>
            </a:pPr>
            <a:r>
              <a:t>E-COMMERCE •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005840"/>
            <a:ext cx="356616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005840"/>
            <a:ext cx="50292" cy="4389120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325880"/>
            <a:ext cx="292608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0D918E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828800"/>
            <a:ext cx="2834640" cy="7772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62338"/>
                </a:solidFill>
                <a:latin typeface="Aptos"/>
              </a:defRPr>
            </a:pPr>
            <a:r>
              <a:t>Ragini Singh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162338"/>
                </a:solidFill>
                <a:latin typeface="Aptos"/>
              </a:defRPr>
            </a:pPr>
            <a:r>
              <a:t>Roll No.: 150096724023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834640"/>
            <a:ext cx="2834640" cy="7772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62338"/>
                </a:solidFill>
                <a:latin typeface="Aptos"/>
              </a:defRPr>
            </a:pPr>
            <a:r>
              <a:t>Sakshi Shinghole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162338"/>
                </a:solidFill>
                <a:latin typeface="Aptos"/>
              </a:defRPr>
            </a:pPr>
            <a:r>
              <a:t>Roll No.: 150096724056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977639"/>
            <a:ext cx="283464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2F40"/>
                </a:solidFill>
                <a:latin typeface="Aptos"/>
              </a:defRPr>
            </a:pPr>
            <a:r>
              <a:t>Models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32F40"/>
                </a:solidFill>
                <a:latin typeface="Aptos"/>
              </a:defRPr>
            </a:pPr>
            <a:r>
              <a:t>Logistic Regression • Decision Tree • 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892040"/>
            <a:ext cx="283464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78C"/>
                </a:solidFill>
                <a:latin typeface="Aptos"/>
              </a:defRPr>
            </a:pPr>
            <a:r>
              <a:t>Project focus: PurchaseStatus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78C"/>
                </a:solidFill>
                <a:latin typeface="Aptos"/>
              </a:defRPr>
            </a:pPr>
            <a:r>
              <a:t>ML MINI PROJECT  •  E-COMMERCE  •  CUSTOMER PURCHASE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8778C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18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8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778C"/>
                </a:solidFill>
                <a:latin typeface="Aptos"/>
              </a:defRPr>
            </a:pPr>
            <a:r>
              <a:t>Why predicting customer purchase behaviour matters in e-commerce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78C"/>
                </a:solidFill>
                <a:latin typeface="Aptos"/>
              </a:defRPr>
            </a:pPr>
            <a:r>
              <a:t>ML MINI PROJECT  •  E-COMMERCE  •  CUSTOMER PURCHASE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8778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53312"/>
            <a:ext cx="56692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53312"/>
            <a:ext cx="50292" cy="4526280"/>
          </a:xfrm>
          <a:prstGeom prst="rect">
            <a:avLst/>
          </a:prstGeom>
          <a:solidFill>
            <a:srgbClr val="2B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600200"/>
            <a:ext cx="50292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62338"/>
                </a:solidFill>
                <a:latin typeface="Aptos"/>
              </a:defRPr>
            </a:pPr>
            <a:r>
              <a:t>THE BUSINESS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57400"/>
            <a:ext cx="5074920" cy="1463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F40"/>
                </a:solidFill>
                <a:latin typeface="Aptos"/>
              </a:defRPr>
            </a:pPr>
            <a:r>
              <a:t>E-commerce businesses collect customer information such as age, income, purchase history, website activity, loyalty-program status and discounts used.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32F40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232F40"/>
                </a:solidFill>
                <a:latin typeface="Aptos"/>
              </a:defRPr>
            </a:pPr>
            <a:r>
              <a:t>However, not every customer completes a purchase.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794760"/>
            <a:ext cx="4983480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62338"/>
                </a:solidFill>
                <a:latin typeface="Aptos"/>
              </a:defRPr>
            </a:pPr>
            <a:r>
              <a:t>Our project asks: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162338"/>
                </a:solidFill>
                <a:latin typeface="Aptos"/>
              </a:defRPr>
            </a:pPr>
            <a:r>
              <a:t>“Can we predict whether a customer will make a purchase using Machine Learning?”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353312"/>
            <a:ext cx="24231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353312"/>
            <a:ext cx="50292" cy="1874519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591056"/>
            <a:ext cx="192024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62338"/>
                </a:solidFill>
                <a:latin typeface="Aptos"/>
              </a:defRPr>
            </a:pPr>
            <a:r>
              <a:t>WHAT WE 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057400"/>
            <a:ext cx="1920240" cy="7315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32F40"/>
                </a:solidFill>
                <a:latin typeface="Aptos"/>
              </a:defRPr>
            </a:pPr>
            <a:r>
              <a:t>PurchaseStatus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232F40"/>
                </a:solidFill>
                <a:latin typeface="Aptos"/>
              </a:defRPr>
            </a:pPr>
            <a:r>
              <a:t>0 → No Purchase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232F40"/>
                </a:solidFill>
                <a:latin typeface="Aptos"/>
              </a:defRPr>
            </a:pPr>
            <a:r>
              <a:t>1 → Purchase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353312"/>
            <a:ext cx="24231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353312"/>
            <a:ext cx="50292" cy="1874519"/>
          </a:xfrm>
          <a:prstGeom prst="rect">
            <a:avLst/>
          </a:prstGeom>
          <a:solidFill>
            <a:srgbClr val="70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591056"/>
            <a:ext cx="192024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62338"/>
                </a:solidFill>
                <a:latin typeface="Aptos"/>
              </a:defRPr>
            </a:pPr>
            <a:r>
              <a:t>WHY ML?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057400"/>
            <a:ext cx="1828800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2F40"/>
                </a:solidFill>
                <a:latin typeface="Aptos"/>
              </a:defRPr>
            </a:pPr>
            <a:r>
              <a:t>ML learns patterns from historical customer data and applies them to new customers.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493008"/>
            <a:ext cx="5074920" cy="23865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3493008"/>
            <a:ext cx="50292" cy="2386584"/>
          </a:xfrm>
          <a:prstGeom prst="rect">
            <a:avLst/>
          </a:prstGeom>
          <a:solidFill>
            <a:srgbClr val="E2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730752"/>
            <a:ext cx="43891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62338"/>
                </a:solidFill>
                <a:latin typeface="Aptos"/>
              </a:defRPr>
            </a:pPr>
            <a:r>
              <a:t>WHO CAN BENEFIT?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160520"/>
            <a:ext cx="4389120" cy="1371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32F40"/>
                </a:solidFill>
                <a:latin typeface="Aptos"/>
              </a:defRPr>
            </a:pPr>
            <a:r>
              <a:t>• E-commerce businesses</a:t>
            </a:r>
          </a:p>
          <a:p>
            <a:pPr>
              <a:spcAft>
                <a:spcPts val="600"/>
              </a:spcAft>
              <a:defRPr sz="1200">
                <a:solidFill>
                  <a:srgbClr val="232F40"/>
                </a:solidFill>
                <a:latin typeface="Aptos"/>
              </a:defRPr>
            </a:pPr>
            <a:r>
              <a:t>• Marketing &amp; customer-engagement teams</a:t>
            </a:r>
          </a:p>
          <a:p>
            <a:pPr>
              <a:spcAft>
                <a:spcPts val="600"/>
              </a:spcAft>
              <a:defRPr sz="1200">
                <a:solidFill>
                  <a:srgbClr val="232F40"/>
                </a:solidFill>
                <a:latin typeface="Aptos"/>
              </a:defRPr>
            </a:pPr>
            <a:r>
              <a:t>• Sales and product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18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8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778C"/>
                </a:solidFill>
                <a:latin typeface="Aptos"/>
              </a:defRPr>
            </a:pPr>
            <a:r>
              <a:t>What the project is designed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78C"/>
                </a:solidFill>
                <a:latin typeface="Aptos"/>
              </a:defRPr>
            </a:pPr>
            <a:r>
              <a:t>ML MINI PROJECT  •  E-COMMERCE  •  CUSTOMER PURCHASE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8778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52578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50292" cy="1234440"/>
          </a:xfrm>
          <a:prstGeom prst="rect">
            <a:avLst/>
          </a:prstGeom>
          <a:solidFill>
            <a:srgbClr val="2B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581912"/>
            <a:ext cx="45720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B5C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1563624"/>
            <a:ext cx="4160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Understand the customer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1947672"/>
            <a:ext cx="416052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32F40"/>
                </a:solidFill>
                <a:latin typeface="Aptos"/>
              </a:defRPr>
            </a:pPr>
            <a:r>
              <a:t>Identify the input features and prediction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2578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1234440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581912"/>
            <a:ext cx="45720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D918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1563624"/>
            <a:ext cx="4160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Clean &amp; preprocess the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1947672"/>
            <a:ext cx="416052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32F40"/>
                </a:solidFill>
                <a:latin typeface="Aptos"/>
              </a:defRPr>
            </a:pPr>
            <a:r>
              <a:t>Handle duplicates, validate the target and prepare features.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26080"/>
            <a:ext cx="52578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2926080"/>
            <a:ext cx="50292" cy="1234440"/>
          </a:xfrm>
          <a:prstGeom prst="rect">
            <a:avLst/>
          </a:prstGeom>
          <a:solidFill>
            <a:srgbClr val="E2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090672"/>
            <a:ext cx="45720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E2822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3072384"/>
            <a:ext cx="4160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Perform EDA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3456432"/>
            <a:ext cx="416052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32F40"/>
                </a:solidFill>
                <a:latin typeface="Aptos"/>
              </a:defRPr>
            </a:pPr>
            <a:r>
              <a:t>Use meaningful visualizations to understand purchase behaviour.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926080"/>
            <a:ext cx="52578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926080"/>
            <a:ext cx="50292" cy="1234440"/>
          </a:xfrm>
          <a:prstGeom prst="rect">
            <a:avLst/>
          </a:prstGeom>
          <a:solidFill>
            <a:srgbClr val="70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090672"/>
            <a:ext cx="45720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704CB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3072384"/>
            <a:ext cx="4160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Build ML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3456432"/>
            <a:ext cx="416052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32F40"/>
                </a:solidFill>
                <a:latin typeface="Aptos"/>
              </a:defRPr>
            </a:pPr>
            <a:r>
              <a:t>Train Logistic Regression, Decision Tree and Random Forest.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434840"/>
            <a:ext cx="52578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434840"/>
            <a:ext cx="50292" cy="1234440"/>
          </a:xfrm>
          <a:prstGeom prst="rect">
            <a:avLst/>
          </a:prstGeom>
          <a:solidFill>
            <a:srgbClr val="2D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4599431"/>
            <a:ext cx="45720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2D975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9032" y="4581144"/>
            <a:ext cx="4160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Evaluate &amp; compare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99032" y="4965192"/>
            <a:ext cx="416052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32F40"/>
                </a:solidFill>
                <a:latin typeface="Aptos"/>
              </a:defRPr>
            </a:pPr>
            <a:r>
              <a:t>Use Accuracy, Precision, Recall and F1-score.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434840"/>
            <a:ext cx="52578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4434840"/>
            <a:ext cx="50292" cy="1234440"/>
          </a:xfrm>
          <a:prstGeom prst="rect">
            <a:avLst/>
          </a:prstGeom>
          <a:solidFill>
            <a:srgbClr val="C0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4599431"/>
            <a:ext cx="45720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C0424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4581144"/>
            <a:ext cx="41605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Select &amp; demonstrate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2592" y="4965192"/>
            <a:ext cx="416052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32F40"/>
                </a:solidFill>
                <a:latin typeface="Aptos"/>
              </a:defRPr>
            </a:pPr>
            <a:r>
              <a:t>Choose the best model and perform a final customer prediction.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18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8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778C"/>
                </a:solidFill>
                <a:latin typeface="Aptos"/>
              </a:defRPr>
            </a:pPr>
            <a:r>
              <a:t>Customer-level e-commerce data used for purchase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78C"/>
                </a:solidFill>
                <a:latin typeface="Aptos"/>
              </a:defRPr>
            </a:pPr>
            <a:r>
              <a:t>ML MINI PROJECT  •  E-COMMERCE  •  CUSTOMER PURCHASE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8778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53312"/>
            <a:ext cx="2148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53312"/>
            <a:ext cx="50292" cy="1005840"/>
          </a:xfrm>
          <a:prstGeom prst="rect">
            <a:avLst/>
          </a:prstGeom>
          <a:solidFill>
            <a:srgbClr val="2B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499616"/>
            <a:ext cx="189280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78C"/>
                </a:solidFill>
                <a:latin typeface="Aptos"/>
              </a:defRPr>
            </a:pPr>
            <a:r>
              <a:t>ORIGINAL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746504"/>
            <a:ext cx="1892808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62338"/>
                </a:solidFill>
                <a:latin typeface="Aptos"/>
              </a:defRPr>
            </a:pPr>
            <a:r>
              <a:t>1,500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353312"/>
            <a:ext cx="2148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1353312"/>
            <a:ext cx="50292" cy="1005840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1499616"/>
            <a:ext cx="189280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78C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1746504"/>
            <a:ext cx="1892808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6233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49240" y="1353312"/>
            <a:ext cx="2148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49240" y="1353312"/>
            <a:ext cx="50292" cy="1005840"/>
          </a:xfrm>
          <a:prstGeom prst="rect">
            <a:avLst/>
          </a:prstGeom>
          <a:solidFill>
            <a:srgbClr val="E2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13831" y="1499616"/>
            <a:ext cx="189280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78C"/>
                </a:solidFill>
                <a:latin typeface="Aptos"/>
              </a:defRPr>
            </a:pPr>
            <a:r>
              <a:t>INPUT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831" y="1746504"/>
            <a:ext cx="1892808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6233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1353312"/>
            <a:ext cx="21488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1353312"/>
            <a:ext cx="50292" cy="1005840"/>
          </a:xfrm>
          <a:prstGeom prst="rect">
            <a:avLst/>
          </a:prstGeom>
          <a:solidFill>
            <a:srgbClr val="70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1499616"/>
            <a:ext cx="189280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78C"/>
                </a:solidFill>
                <a:latin typeface="Aptos"/>
              </a:defRPr>
            </a:pPr>
            <a:r>
              <a:t>AFTER CLEANING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1746504"/>
            <a:ext cx="1892808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62338"/>
                </a:solidFill>
                <a:latin typeface="Aptos"/>
              </a:defRPr>
            </a:pPr>
            <a:r>
              <a:t>1,388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1353312"/>
            <a:ext cx="15544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12680" y="1353312"/>
            <a:ext cx="50292" cy="1005840"/>
          </a:xfrm>
          <a:prstGeom prst="rect">
            <a:avLst/>
          </a:prstGeom>
          <a:solidFill>
            <a:srgbClr val="2D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1499616"/>
            <a:ext cx="129844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78C"/>
                </a:solidFill>
                <a:latin typeface="Aptos"/>
              </a:defRPr>
            </a:pPr>
            <a:r>
              <a:t>MISSING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7272" y="1746504"/>
            <a:ext cx="1298448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6233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2651760"/>
            <a:ext cx="5532120" cy="3017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2651760"/>
            <a:ext cx="50292" cy="3017520"/>
          </a:xfrm>
          <a:prstGeom prst="rect">
            <a:avLst/>
          </a:prstGeom>
          <a:solidFill>
            <a:srgbClr val="2B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2907792"/>
            <a:ext cx="493776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364992"/>
            <a:ext cx="219456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2F40"/>
                </a:solidFill>
                <a:latin typeface="Aptos"/>
              </a:defRPr>
            </a:pPr>
            <a:r>
              <a:t>• 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867912"/>
            <a:ext cx="219456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2F40"/>
                </a:solidFill>
                <a:latin typeface="Aptos"/>
              </a:defRPr>
            </a:pPr>
            <a:r>
              <a:t>• Gender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370832"/>
            <a:ext cx="219456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2F40"/>
                </a:solidFill>
                <a:latin typeface="Aptos"/>
              </a:defRPr>
            </a:pPr>
            <a:r>
              <a:t>• AnnualIncome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873752"/>
            <a:ext cx="219456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2F40"/>
                </a:solidFill>
                <a:latin typeface="Aptos"/>
              </a:defRPr>
            </a:pPr>
            <a:r>
              <a:t>• NumberOfPurchases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3364992"/>
            <a:ext cx="219456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2F40"/>
                </a:solidFill>
                <a:latin typeface="Aptos"/>
              </a:defRPr>
            </a:pPr>
            <a:r>
              <a:t>• ProductCategory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3867912"/>
            <a:ext cx="219456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2F40"/>
                </a:solidFill>
                <a:latin typeface="Aptos"/>
              </a:defRPr>
            </a:pPr>
            <a:r>
              <a:t>• TimeSpentOnWebsite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4370832"/>
            <a:ext cx="219456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2F40"/>
                </a:solidFill>
                <a:latin typeface="Aptos"/>
              </a:defRPr>
            </a:pPr>
            <a:r>
              <a:t>• LoyaltyProgram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4873752"/>
            <a:ext cx="2194560" cy="2560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32F40"/>
                </a:solidFill>
                <a:latin typeface="Aptos"/>
              </a:defRPr>
            </a:pPr>
            <a:r>
              <a:t>• DiscountsAvailed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2651760"/>
            <a:ext cx="5120640" cy="3017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46520" y="2651760"/>
            <a:ext cx="50292" cy="3017520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93408" y="2907792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TARGET VARIABLE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3408" y="3401568"/>
            <a:ext cx="4389120" cy="5943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62338"/>
                </a:solidFill>
                <a:latin typeface="Aptos"/>
              </a:defRPr>
            </a:pPr>
            <a:r>
              <a:t>PurchaseStatus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4160520"/>
            <a:ext cx="429768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232F40"/>
                </a:solidFill>
                <a:latin typeface="Aptos"/>
              </a:defRPr>
            </a:pPr>
            <a:r>
              <a:t>0  →  No Purchase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232F40"/>
                </a:solidFill>
                <a:latin typeface="Aptos"/>
              </a:defRPr>
            </a:pPr>
            <a:r>
              <a:t>1  →  Purchase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232F40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232F40"/>
                </a:solidFill>
                <a:latin typeface="Aptos"/>
              </a:defRPr>
            </a:pPr>
            <a:r>
              <a:t>Problem type: Binary Classification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5285232"/>
            <a:ext cx="438912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68778C"/>
                </a:solidFill>
                <a:latin typeface="Aptos"/>
              </a:defRPr>
            </a:pPr>
            <a:r>
              <a:t>Dataset source: supplied project file `customer_purchase_data.csv`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18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8"/>
                </a:solidFill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778C"/>
                </a:solidFill>
                <a:latin typeface="Aptos"/>
              </a:defRPr>
            </a:pPr>
            <a:r>
              <a:t>Preparing the data before model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78C"/>
                </a:solidFill>
                <a:latin typeface="Aptos"/>
              </a:defRPr>
            </a:pPr>
            <a:r>
              <a:t>ML MINI PROJECT  •  E-COMMERCE  •  CUSTOMER PURCHASE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8778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3401568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0292" cy="1737360"/>
          </a:xfrm>
          <a:prstGeom prst="rect">
            <a:avLst/>
          </a:prstGeom>
          <a:solidFill>
            <a:srgbClr val="2B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581912"/>
            <a:ext cx="41148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B5CB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563624"/>
            <a:ext cx="2532888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1984248"/>
            <a:ext cx="2532888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32F40"/>
                </a:solidFill>
                <a:latin typeface="Aptos"/>
              </a:defRPr>
            </a:pPr>
            <a:r>
              <a:t>0 missing values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468880"/>
            <a:ext cx="2532888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68778C"/>
                </a:solidFill>
                <a:latin typeface="Aptos"/>
              </a:defRPr>
            </a:pPr>
            <a:r>
              <a:t>No imputation required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417320"/>
            <a:ext cx="3401568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417320"/>
            <a:ext cx="50292" cy="1737360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581912"/>
            <a:ext cx="41148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0D918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1563624"/>
            <a:ext cx="2532888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Duplicate removal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1984248"/>
            <a:ext cx="2532888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32F40"/>
                </a:solidFill>
                <a:latin typeface="Aptos"/>
              </a:defRPr>
            </a:pPr>
            <a:r>
              <a:t>112 duplicates removed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2468880"/>
            <a:ext cx="2532888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68778C"/>
                </a:solidFill>
                <a:latin typeface="Aptos"/>
              </a:defRPr>
            </a:pPr>
            <a:r>
              <a:t>1,500 → 1,388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1417320"/>
            <a:ext cx="3401568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59" y="1417320"/>
            <a:ext cx="50292" cy="1737360"/>
          </a:xfrm>
          <a:prstGeom prst="rect">
            <a:avLst/>
          </a:prstGeom>
          <a:solidFill>
            <a:srgbClr val="E2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9" y="1581912"/>
            <a:ext cx="41148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E2822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1" y="1563624"/>
            <a:ext cx="2532888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Target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1" y="1984248"/>
            <a:ext cx="2532888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32F40"/>
                </a:solidFill>
                <a:latin typeface="Aptos"/>
              </a:defRPr>
            </a:pPr>
            <a:r>
              <a:t>Only 0 and 1 present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1" y="2468880"/>
            <a:ext cx="2532888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68778C"/>
                </a:solidFill>
                <a:latin typeface="Aptos"/>
              </a:defRPr>
            </a:pPr>
            <a:r>
              <a:t>Valid binary target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474720"/>
            <a:ext cx="525780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474720"/>
            <a:ext cx="50292" cy="1737360"/>
          </a:xfrm>
          <a:prstGeom prst="rect">
            <a:avLst/>
          </a:prstGeom>
          <a:solidFill>
            <a:srgbClr val="70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3639312"/>
            <a:ext cx="41148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704CB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3621024"/>
            <a:ext cx="438912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Feature scaling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4041648"/>
            <a:ext cx="438912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32F40"/>
                </a:solidFill>
                <a:latin typeface="Aptos"/>
              </a:defRPr>
            </a:pPr>
            <a:r>
              <a:t>StandardScaler for Logistic 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4526279"/>
            <a:ext cx="438912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68778C"/>
                </a:solidFill>
                <a:latin typeface="Aptos"/>
              </a:defRPr>
            </a:pPr>
            <a:r>
              <a:t>Tree models do not need scaling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474720"/>
            <a:ext cx="5257800" cy="1737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474720"/>
            <a:ext cx="50292" cy="1737360"/>
          </a:xfrm>
          <a:prstGeom prst="rect">
            <a:avLst/>
          </a:prstGeom>
          <a:solidFill>
            <a:srgbClr val="2D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639312"/>
            <a:ext cx="41148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D975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3621024"/>
            <a:ext cx="438912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Train-test split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4041648"/>
            <a:ext cx="438912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232F40"/>
                </a:solidFill>
                <a:latin typeface="Aptos"/>
              </a:defRPr>
            </a:pPr>
            <a:r>
              <a:t>80% / 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2592" y="4526279"/>
            <a:ext cx="438912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68778C"/>
                </a:solidFill>
                <a:latin typeface="Aptos"/>
              </a:defRPr>
            </a:pPr>
            <a:r>
              <a:t>1,110 train • 278 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577840"/>
            <a:ext cx="106984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62338"/>
                </a:solidFill>
                <a:latin typeface="Aptos"/>
              </a:defRPr>
            </a:pPr>
            <a:r>
              <a:t>Why this matters: clean and correctly prepared data reduces noise and ensures a fair comparison between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18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8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778C"/>
                </a:solidFill>
                <a:latin typeface="Aptos"/>
              </a:defRPr>
            </a:pPr>
            <a:r>
              <a:t>Seven visualizations were used to understand purchase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78C"/>
                </a:solidFill>
                <a:latin typeface="Aptos"/>
              </a:defRPr>
            </a:pPr>
            <a:r>
              <a:t>ML MINI PROJECT  •  E-COMMERCE  •  CUSTOMER PURCHASE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8778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361188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0292" cy="1993392"/>
          </a:xfrm>
          <a:prstGeom prst="rect">
            <a:avLst/>
          </a:prstGeom>
          <a:solidFill>
            <a:srgbClr val="2B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purc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09928"/>
            <a:ext cx="3383280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" y="1444752"/>
            <a:ext cx="3108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1">
                <a:solidFill>
                  <a:srgbClr val="162338"/>
                </a:solidFill>
                <a:latin typeface="Aptos"/>
              </a:defRPr>
            </a:pPr>
            <a:r>
              <a:t>Purchase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361188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25880"/>
            <a:ext cx="50292" cy="199339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2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709928"/>
            <a:ext cx="3383280" cy="1417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53712" y="1444752"/>
            <a:ext cx="3108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1">
                <a:solidFill>
                  <a:srgbClr val="162338"/>
                </a:solidFill>
                <a:latin typeface="Aptos"/>
              </a:defRPr>
            </a:pPr>
            <a:r>
              <a:t>Age distribution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325880"/>
            <a:ext cx="361188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325880"/>
            <a:ext cx="50292" cy="1993392"/>
          </a:xfrm>
          <a:prstGeom prst="rect">
            <a:avLst/>
          </a:prstGeom>
          <a:solidFill>
            <a:srgbClr val="E2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3_inc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1709928"/>
            <a:ext cx="3383280" cy="1417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39912" y="1444752"/>
            <a:ext cx="3108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1">
                <a:solidFill>
                  <a:srgbClr val="162338"/>
                </a:solidFill>
                <a:latin typeface="Aptos"/>
              </a:defRPr>
            </a:pPr>
            <a:r>
              <a:t>Annual income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474720"/>
            <a:ext cx="361188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474720"/>
            <a:ext cx="50292" cy="1993392"/>
          </a:xfrm>
          <a:prstGeom prst="rect">
            <a:avLst/>
          </a:prstGeom>
          <a:solidFill>
            <a:srgbClr val="70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4_t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858768"/>
            <a:ext cx="3383280" cy="1417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7512" y="3593591"/>
            <a:ext cx="3108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1">
                <a:solidFill>
                  <a:srgbClr val="162338"/>
                </a:solidFill>
                <a:latin typeface="Aptos"/>
              </a:defRPr>
            </a:pPr>
            <a:r>
              <a:t>Website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474720"/>
            <a:ext cx="361188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474720"/>
            <a:ext cx="50292" cy="1993392"/>
          </a:xfrm>
          <a:prstGeom prst="rect">
            <a:avLst/>
          </a:prstGeom>
          <a:solidFill>
            <a:srgbClr val="2D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5_loyal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992" y="3858768"/>
            <a:ext cx="3383280" cy="1417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53712" y="3593591"/>
            <a:ext cx="3108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1">
                <a:solidFill>
                  <a:srgbClr val="162338"/>
                </a:solidFill>
                <a:latin typeface="Aptos"/>
              </a:defRPr>
            </a:pPr>
            <a:r>
              <a:t>Loyalty program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474720"/>
            <a:ext cx="3611880" cy="1993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20" y="3474720"/>
            <a:ext cx="50292" cy="1993392"/>
          </a:xfrm>
          <a:prstGeom prst="rect">
            <a:avLst/>
          </a:prstGeom>
          <a:solidFill>
            <a:srgbClr val="C0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07_purchas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3858768"/>
            <a:ext cx="3383280" cy="1417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39912" y="3593591"/>
            <a:ext cx="3108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1">
                <a:solidFill>
                  <a:srgbClr val="162338"/>
                </a:solidFill>
                <a:latin typeface="Aptos"/>
              </a:defRPr>
            </a:pPr>
            <a:r>
              <a:t>Previous purchases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5440680"/>
            <a:ext cx="32461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66760" y="5440680"/>
            <a:ext cx="50292" cy="749808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5596128"/>
            <a:ext cx="2834640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19" b="0">
                <a:solidFill>
                  <a:srgbClr val="232F40"/>
                </a:solidFill>
                <a:latin typeface="Aptos"/>
              </a:defRPr>
            </a:pPr>
            <a:r>
              <a:t>Key insight: LoyaltyProgram, DiscountsAvailed, TimeSpentOnWebsite and NumberOfPurchases show the strongest positive correlations with PurchaseStatus.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440680"/>
            <a:ext cx="75438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440680"/>
            <a:ext cx="50292" cy="749808"/>
          </a:xfrm>
          <a:prstGeom prst="rect">
            <a:avLst/>
          </a:prstGeom>
          <a:solidFill>
            <a:srgbClr val="2B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596128"/>
            <a:ext cx="7086600" cy="42062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19" b="0">
                <a:solidFill>
                  <a:srgbClr val="232F40"/>
                </a:solidFill>
                <a:latin typeface="Aptos"/>
              </a:defRPr>
            </a:pPr>
            <a:r>
              <a:t>Correlation highlights: LoyaltyProgram 0.318 • DiscountsAvailed 0.297 • TimeSpentOnWebsite 0.282 • NumberOfPurchases 0.219 • Age -0.254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18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8"/>
                </a:solidFill>
                <a:latin typeface="Aptos"/>
              </a:defRPr>
            </a:pPr>
            <a:r>
              <a:t>Machine Learning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778C"/>
                </a:solidFill>
                <a:latin typeface="Aptos"/>
              </a:defRPr>
            </a:pPr>
            <a:r>
              <a:t>Three classification models were implemented and compared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78C"/>
                </a:solidFill>
                <a:latin typeface="Aptos"/>
              </a:defRPr>
            </a:pPr>
            <a:r>
              <a:t>ML MINI PROJECT  •  E-COMMERCE  •  CUSTOMER PURCHASE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8778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352044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50292" cy="4343400"/>
          </a:xfrm>
          <a:prstGeom prst="rect">
            <a:avLst/>
          </a:prstGeom>
          <a:solidFill>
            <a:srgbClr val="2B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29718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62338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2926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B5CBE"/>
                </a:solidFill>
                <a:latin typeface="Aptos"/>
              </a:defRPr>
            </a:pPr>
            <a:r>
              <a:t>BINARY CLASSIFICATION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2971800" cy="1051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2F40"/>
                </a:solidFill>
                <a:latin typeface="Aptos"/>
              </a:defRPr>
            </a:pPr>
            <a:r>
              <a:t>Estimates the probability of purchase vs no purchase.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97180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78C"/>
                </a:solidFill>
                <a:latin typeface="Aptos"/>
              </a:defRPr>
            </a:pPr>
            <a:r>
              <a:t>Why chosen: simple, fast and interpretable.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29718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850" b="0">
                <a:solidFill>
                  <a:srgbClr val="68778C"/>
                </a:solidFill>
                <a:latin typeface="Aptos"/>
              </a:defRPr>
            </a:pPr>
            <a:r>
              <a:t>Model settings: StandardScaler + LogisticRegression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417320"/>
            <a:ext cx="352044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417320"/>
            <a:ext cx="50292" cy="4343400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691640"/>
            <a:ext cx="29718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62338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331720"/>
            <a:ext cx="2926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D918E"/>
                </a:solidFill>
                <a:latin typeface="Aptos"/>
              </a:defRPr>
            </a:pPr>
            <a:r>
              <a:t>RULE-BASED CLASSIFIER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880360"/>
            <a:ext cx="2971800" cy="1051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2F40"/>
                </a:solidFill>
                <a:latin typeface="Aptos"/>
              </a:defRPr>
            </a:pPr>
            <a:r>
              <a:t>Makes predictions through a sequence of feature-based splits.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069080"/>
            <a:ext cx="297180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78C"/>
                </a:solidFill>
                <a:latin typeface="Aptos"/>
              </a:defRPr>
            </a:pPr>
            <a:r>
              <a:t>Why chosen: easy to explain and captures non-linear patterns.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257800"/>
            <a:ext cx="29718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850" b="0">
                <a:solidFill>
                  <a:srgbClr val="68778C"/>
                </a:solidFill>
                <a:latin typeface="Aptos"/>
              </a:defRPr>
            </a:pPr>
            <a:r>
              <a:t>Model settings: max_depth = 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1417320"/>
            <a:ext cx="352044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1417320"/>
            <a:ext cx="50292" cy="4343400"/>
          </a:xfrm>
          <a:prstGeom prst="rect">
            <a:avLst/>
          </a:prstGeom>
          <a:solidFill>
            <a:srgbClr val="E2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1691640"/>
            <a:ext cx="29718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62338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331720"/>
            <a:ext cx="2926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28220"/>
                </a:solidFill>
                <a:latin typeface="Aptos"/>
              </a:defRPr>
            </a:pPr>
            <a:r>
              <a:t>ENSEMBLE CLASSIFIER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880360"/>
            <a:ext cx="2971800" cy="1051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2F40"/>
                </a:solidFill>
                <a:latin typeface="Aptos"/>
              </a:defRPr>
            </a:pPr>
            <a:r>
              <a:t>Combines many Decision Trees to make a more robust prediction.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069080"/>
            <a:ext cx="297180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8778C"/>
                </a:solidFill>
                <a:latin typeface="Aptos"/>
              </a:defRPr>
            </a:pPr>
            <a:r>
              <a:t>Why chosen: captures complex patterns and often generalizes better.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257800"/>
            <a:ext cx="29718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850" b="0">
                <a:solidFill>
                  <a:srgbClr val="68778C"/>
                </a:solidFill>
                <a:latin typeface="Aptos"/>
              </a:defRPr>
            </a:pPr>
            <a:r>
              <a:t>Model settings: 100 trees • max_depth =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162338"/>
                </a:solidFill>
                <a:latin typeface="Aptos"/>
              </a:defRPr>
            </a:pPr>
            <a:r>
              <a:t>Team split: Ragini → Logistic Regression + Decision Tree  |  Sakshi → Random Forest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18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8"/>
                </a:solidFill>
                <a:latin typeface="Aptos"/>
              </a:defRPr>
            </a:pPr>
            <a: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778C"/>
                </a:solidFill>
                <a:latin typeface="Aptos"/>
              </a:defRPr>
            </a:pPr>
            <a:r>
              <a:t>Test-set performance using classification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78C"/>
                </a:solidFill>
                <a:latin typeface="Aptos"/>
              </a:defRPr>
            </a:pPr>
            <a:r>
              <a:t>ML MINI PROJECT  •  E-COMMERCE  •  CUSTOMER PURCHASE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8778C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9" name="Picture 8" descr="08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897880" cy="2788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766560" y="1481328"/>
            <a:ext cx="20574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0" y="1481328"/>
            <a:ext cx="50292" cy="960120"/>
          </a:xfrm>
          <a:prstGeom prst="rect">
            <a:avLst/>
          </a:prstGeom>
          <a:solidFill>
            <a:srgbClr val="2B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1627632"/>
            <a:ext cx="1801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78C"/>
                </a:solidFill>
                <a:latin typeface="Aptos"/>
              </a:defRPr>
            </a:pPr>
            <a:r>
              <a:t>LR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1874520"/>
            <a:ext cx="1801368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62338"/>
                </a:solidFill>
                <a:latin typeface="Aptos"/>
              </a:defRPr>
            </a:pPr>
            <a:r>
              <a:t>83.09%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481328"/>
            <a:ext cx="20574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06840" y="1481328"/>
            <a:ext cx="50292" cy="960120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1627632"/>
            <a:ext cx="1801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78C"/>
                </a:solidFill>
                <a:latin typeface="Aptos"/>
              </a:defRPr>
            </a:pPr>
            <a:r>
              <a:t>DT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1874520"/>
            <a:ext cx="1801368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62338"/>
                </a:solidFill>
                <a:latin typeface="Aptos"/>
              </a:defRPr>
            </a:pPr>
            <a:r>
              <a:t>85.25%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2633472"/>
            <a:ext cx="20574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66560" y="2633472"/>
            <a:ext cx="50292" cy="960120"/>
          </a:xfrm>
          <a:prstGeom prst="rect">
            <a:avLst/>
          </a:prstGeom>
          <a:solidFill>
            <a:srgbClr val="E2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2779776"/>
            <a:ext cx="1801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78C"/>
                </a:solidFill>
                <a:latin typeface="Aptos"/>
              </a:defRPr>
            </a:pPr>
            <a:r>
              <a:t>RF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3026664"/>
            <a:ext cx="1801368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62338"/>
                </a:solidFill>
                <a:latin typeface="Aptos"/>
              </a:defRPr>
            </a:pPr>
            <a:r>
              <a:t>92.81%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633472"/>
            <a:ext cx="20574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2633472"/>
            <a:ext cx="50292" cy="960120"/>
          </a:xfrm>
          <a:prstGeom prst="rect">
            <a:avLst/>
          </a:prstGeom>
          <a:solidFill>
            <a:srgbClr val="70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432" y="2779776"/>
            <a:ext cx="180136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78C"/>
                </a:solidFill>
                <a:latin typeface="Aptos"/>
              </a:defRPr>
            </a:pPr>
            <a:r>
              <a:t>RF F1-SCORE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3026664"/>
            <a:ext cx="1801368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62338"/>
                </a:solidFill>
                <a:latin typeface="Aptos"/>
              </a:defRPr>
            </a:pPr>
            <a:r>
              <a:t>92.25%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3931920"/>
            <a:ext cx="42976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0" y="3931920"/>
            <a:ext cx="50292" cy="1508760"/>
          </a:xfrm>
          <a:prstGeom prst="rect">
            <a:avLst/>
          </a:prstGeom>
          <a:solidFill>
            <a:srgbClr val="2D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4160520"/>
            <a:ext cx="3749039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62338"/>
                </a:solidFill>
                <a:latin typeface="Aptos"/>
              </a:defRPr>
            </a:pPr>
            <a:r>
              <a:t>METRICS USED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572000"/>
            <a:ext cx="3657600" cy="5943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2F40"/>
                </a:solidFill>
                <a:latin typeface="Aptos"/>
              </a:defRPr>
            </a:pPr>
            <a:r>
              <a:t>Accuracy • Precision • Recall • F1-score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32F40"/>
                </a:solidFill>
                <a:latin typeface="Aptos"/>
              </a:defRPr>
            </a:pPr>
            <a:r>
              <a:t>Confusion Matrix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532120"/>
            <a:ext cx="1060704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162338"/>
                </a:solidFill>
                <a:latin typeface="Aptos"/>
              </a:defRPr>
            </a:pPr>
            <a:r>
              <a:t>Random Forest achieved the strongest test-set performance across the main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18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8"/>
                </a:solidFill>
                <a:latin typeface="Aptos"/>
              </a:defRPr>
            </a:pPr>
            <a: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778C"/>
                </a:solidFill>
                <a:latin typeface="Aptos"/>
              </a:defRPr>
            </a:pPr>
            <a:r>
              <a:t>Same test split • same target • directly comparable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78C"/>
                </a:solidFill>
                <a:latin typeface="Aptos"/>
              </a:defRPr>
            </a:pPr>
            <a:r>
              <a:t>ML MINI PROJECT  •  E-COMMERCE  •  CUSTOMER PURCHASE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8778C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9" name="Picture 8" descr="09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53312"/>
            <a:ext cx="5852160" cy="2743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4343400"/>
            <a:ext cx="2834640" cy="438912"/>
          </a:xfrm>
          <a:prstGeom prst="rect">
            <a:avLst/>
          </a:prstGeom>
          <a:solidFill>
            <a:srgbClr val="EFF3F8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343400"/>
            <a:ext cx="50292" cy="43891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453128"/>
            <a:ext cx="2779776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50" b="1">
                <a:solidFill>
                  <a:srgbClr val="162338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4343400"/>
            <a:ext cx="1417320" cy="438912"/>
          </a:xfrm>
          <a:prstGeom prst="rect">
            <a:avLst/>
          </a:prstGeom>
          <a:solidFill>
            <a:srgbClr val="EFF3F8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4343400"/>
            <a:ext cx="50292" cy="43891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4453128"/>
            <a:ext cx="1362456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50" b="1">
                <a:solidFill>
                  <a:srgbClr val="162338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4343400"/>
            <a:ext cx="1417320" cy="438912"/>
          </a:xfrm>
          <a:prstGeom prst="rect">
            <a:avLst/>
          </a:prstGeom>
          <a:solidFill>
            <a:srgbClr val="EFF3F8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4343400"/>
            <a:ext cx="50292" cy="43891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4453128"/>
            <a:ext cx="1362456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50" b="1">
                <a:solidFill>
                  <a:srgbClr val="162338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343400"/>
            <a:ext cx="1280160" cy="438912"/>
          </a:xfrm>
          <a:prstGeom prst="rect">
            <a:avLst/>
          </a:prstGeom>
          <a:solidFill>
            <a:srgbClr val="EFF3F8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4343400"/>
            <a:ext cx="50292" cy="43891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4453128"/>
            <a:ext cx="1225295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50" b="1">
                <a:solidFill>
                  <a:srgbClr val="162338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343400"/>
            <a:ext cx="1280160" cy="438912"/>
          </a:xfrm>
          <a:prstGeom prst="rect">
            <a:avLst/>
          </a:prstGeom>
          <a:solidFill>
            <a:srgbClr val="EFF3F8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343400"/>
            <a:ext cx="50292" cy="43891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9792" y="4453128"/>
            <a:ext cx="1225295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50" b="1">
                <a:solidFill>
                  <a:srgbClr val="162338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846320"/>
            <a:ext cx="28346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974336"/>
            <a:ext cx="2779776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30" b="0">
                <a:solidFill>
                  <a:srgbClr val="162338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4846320"/>
            <a:ext cx="141732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64992" y="4974336"/>
            <a:ext cx="1362456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30" b="0">
                <a:solidFill>
                  <a:srgbClr val="162338"/>
                </a:solidFill>
                <a:latin typeface="Aptos"/>
              </a:defRPr>
            </a:pPr>
            <a:r>
              <a:t>83.09%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4846320"/>
            <a:ext cx="141732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82312" y="4974336"/>
            <a:ext cx="1362456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30" b="0">
                <a:solidFill>
                  <a:srgbClr val="162338"/>
                </a:solidFill>
                <a:latin typeface="Aptos"/>
              </a:defRPr>
            </a:pPr>
            <a:r>
              <a:t>81.68%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4846320"/>
            <a:ext cx="12801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4974336"/>
            <a:ext cx="1225295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30" b="0">
                <a:solidFill>
                  <a:srgbClr val="162338"/>
                </a:solidFill>
                <a:latin typeface="Aptos"/>
              </a:defRPr>
            </a:pPr>
            <a:r>
              <a:t>82.31%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4846320"/>
            <a:ext cx="12801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9792" y="4974336"/>
            <a:ext cx="1225295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30" b="0">
                <a:solidFill>
                  <a:srgbClr val="162338"/>
                </a:solidFill>
                <a:latin typeface="Aptos"/>
              </a:defRPr>
            </a:pPr>
            <a:r>
              <a:t>81.99%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349240"/>
            <a:ext cx="28346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5477255"/>
            <a:ext cx="2779776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30" b="0">
                <a:solidFill>
                  <a:srgbClr val="162338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5349240"/>
            <a:ext cx="141732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64992" y="5477255"/>
            <a:ext cx="1362456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30" b="0">
                <a:solidFill>
                  <a:srgbClr val="162338"/>
                </a:solidFill>
                <a:latin typeface="Aptos"/>
              </a:defRPr>
            </a:pPr>
            <a:r>
              <a:t>85.25%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5349240"/>
            <a:ext cx="141732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82312" y="5477255"/>
            <a:ext cx="1362456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30" b="0">
                <a:solidFill>
                  <a:srgbClr val="162338"/>
                </a:solidFill>
                <a:latin typeface="Aptos"/>
              </a:defRPr>
            </a:pPr>
            <a:r>
              <a:t>82.01%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5349240"/>
            <a:ext cx="12801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9632" y="5477255"/>
            <a:ext cx="1225295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30" b="0">
                <a:solidFill>
                  <a:srgbClr val="162338"/>
                </a:solidFill>
                <a:latin typeface="Aptos"/>
              </a:defRPr>
            </a:pPr>
            <a:r>
              <a:t>87.69%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2360" y="5349240"/>
            <a:ext cx="12801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9792" y="5477255"/>
            <a:ext cx="1225295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30" b="0">
                <a:solidFill>
                  <a:srgbClr val="162338"/>
                </a:solidFill>
                <a:latin typeface="Aptos"/>
              </a:defRPr>
            </a:pPr>
            <a:r>
              <a:t>84.76%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852160"/>
            <a:ext cx="283464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5980176"/>
            <a:ext cx="2779776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30" b="1">
                <a:solidFill>
                  <a:srgbClr val="162338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37560" y="5852160"/>
            <a:ext cx="141732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64992" y="5980176"/>
            <a:ext cx="1362456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30" b="1">
                <a:solidFill>
                  <a:srgbClr val="162338"/>
                </a:solidFill>
                <a:latin typeface="Aptos"/>
              </a:defRPr>
            </a:pPr>
            <a:r>
              <a:t>92.81%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5852160"/>
            <a:ext cx="141732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82312" y="5980176"/>
            <a:ext cx="1362456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30" b="1">
                <a:solidFill>
                  <a:srgbClr val="162338"/>
                </a:solidFill>
                <a:latin typeface="Aptos"/>
              </a:defRPr>
            </a:pPr>
            <a:r>
              <a:t>92.97%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5852160"/>
            <a:ext cx="12801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5980176"/>
            <a:ext cx="1225295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30" b="1">
                <a:solidFill>
                  <a:srgbClr val="162338"/>
                </a:solidFill>
                <a:latin typeface="Aptos"/>
              </a:defRPr>
            </a:pPr>
            <a:r>
              <a:t>91.54%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52360" y="5852160"/>
            <a:ext cx="12801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79792" y="5980176"/>
            <a:ext cx="1225295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930" b="1">
                <a:solidFill>
                  <a:srgbClr val="162338"/>
                </a:solidFill>
                <a:latin typeface="Aptos"/>
              </a:defRPr>
            </a:pPr>
            <a:r>
              <a:t>92.25%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69680" y="1353312"/>
            <a:ext cx="2697480" cy="2743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69680" y="1353312"/>
            <a:ext cx="50292" cy="2743200"/>
          </a:xfrm>
          <a:prstGeom prst="rect">
            <a:avLst/>
          </a:prstGeom>
          <a:solidFill>
            <a:srgbClr val="E2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8280" y="1618488"/>
            <a:ext cx="21945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62338"/>
                </a:solidFill>
                <a:latin typeface="Aptos"/>
              </a:defRPr>
            </a:pPr>
            <a:r>
              <a:t>WHAT THE COMPARISON TELLS 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2121408"/>
            <a:ext cx="2148840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232F40"/>
                </a:solidFill>
                <a:latin typeface="Aptos"/>
              </a:defRPr>
            </a:pPr>
            <a:r>
              <a:t>• Logistic Regression provides the baseline.</a:t>
            </a:r>
          </a:p>
          <a:p>
            <a:pPr>
              <a:spcAft>
                <a:spcPts val="600"/>
              </a:spcAft>
              <a:defRPr sz="1050">
                <a:solidFill>
                  <a:srgbClr val="232F40"/>
                </a:solidFill>
                <a:latin typeface="Aptos"/>
              </a:defRPr>
            </a:pPr>
            <a:r>
              <a:t>• Decision Tree improves recall.</a:t>
            </a:r>
          </a:p>
          <a:p>
            <a:pPr>
              <a:spcAft>
                <a:spcPts val="600"/>
              </a:spcAft>
              <a:defRPr sz="1050">
                <a:solidFill>
                  <a:srgbClr val="232F40"/>
                </a:solidFill>
                <a:latin typeface="Aptos"/>
              </a:defRPr>
            </a:pPr>
            <a:r>
              <a:t>• Random Forest delivers the strongest overall balance.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8280" y="3794760"/>
            <a:ext cx="214884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62338"/>
                </a:solidFill>
                <a:latin typeface="Aptos"/>
              </a:defRPr>
            </a:pPr>
            <a:r>
              <a:t>Conclusion: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162338"/>
                </a:solidFill>
                <a:latin typeface="Aptos"/>
              </a:defRPr>
            </a:pPr>
            <a:r>
              <a:t>Random Forest ranks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18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8"/>
                </a:solidFill>
                <a:latin typeface="Aptos"/>
              </a:defRPr>
            </a:pPr>
            <a:r>
              <a:t>Best Model &amp;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778C"/>
                </a:solidFill>
                <a:latin typeface="Aptos"/>
              </a:defRPr>
            </a:pPr>
            <a:r>
              <a:t>Why Random Forest was selected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78C"/>
                </a:solidFill>
                <a:latin typeface="Aptos"/>
              </a:defRPr>
            </a:pPr>
            <a:r>
              <a:t>ML MINI PROJECT  •  E-COMMERCE  •  CUSTOMER PURCHASE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8778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379476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50292" cy="4480560"/>
          </a:xfrm>
          <a:prstGeom prst="rect">
            <a:avLst/>
          </a:prstGeom>
          <a:solidFill>
            <a:srgbClr val="E2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00200"/>
            <a:ext cx="310896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E28220"/>
                </a:solidFill>
                <a:latin typeface="Aptos"/>
              </a:defRPr>
            </a:pPr>
            <a:r>
              <a:t>🏆 BEST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57400"/>
            <a:ext cx="30175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2300" b="1">
                <a:solidFill>
                  <a:srgbClr val="162338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880360"/>
            <a:ext cx="14173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2880360"/>
            <a:ext cx="50292" cy="960120"/>
          </a:xfrm>
          <a:prstGeom prst="rect">
            <a:avLst/>
          </a:prstGeom>
          <a:solidFill>
            <a:srgbClr val="2B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026664"/>
            <a:ext cx="116128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78C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273552"/>
            <a:ext cx="1161288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62338"/>
                </a:solidFill>
                <a:latin typeface="Aptos"/>
              </a:defRPr>
            </a:pPr>
            <a:r>
              <a:t>92.81%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2880360"/>
            <a:ext cx="14173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23160" y="2880360"/>
            <a:ext cx="50292" cy="960120"/>
          </a:xfrm>
          <a:prstGeom prst="rect">
            <a:avLst/>
          </a:prstGeom>
          <a:solidFill>
            <a:srgbClr val="70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87752" y="3026664"/>
            <a:ext cx="1161288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68778C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87752" y="3273552"/>
            <a:ext cx="1161288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62338"/>
                </a:solidFill>
                <a:latin typeface="Aptos"/>
              </a:defRPr>
            </a:pPr>
            <a:r>
              <a:t>92.25%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60520"/>
            <a:ext cx="301752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50" b="0">
                <a:solidFill>
                  <a:srgbClr val="232F40"/>
                </a:solidFill>
                <a:latin typeface="Aptos"/>
              </a:defRPr>
            </a:pPr>
            <a:r>
              <a:t>Highest overall test performance.</a:t>
            </a:r>
          </a:p>
          <a:p>
            <a:pPr algn="l">
              <a:spcAft>
                <a:spcPts val="400"/>
              </a:spcAft>
              <a:defRPr sz="1150" b="0">
                <a:solidFill>
                  <a:srgbClr val="232F40"/>
                </a:solidFill>
                <a:latin typeface="Aptos"/>
              </a:defRPr>
            </a:pPr>
            <a:r>
              <a:t>Strong balance between precision and recall.</a:t>
            </a:r>
          </a:p>
          <a:p>
            <a:pPr algn="l">
              <a:spcAft>
                <a:spcPts val="400"/>
              </a:spcAft>
              <a:defRPr sz="1150" b="0">
                <a:solidFill>
                  <a:srgbClr val="232F40"/>
                </a:solidFill>
                <a:latin typeface="Aptos"/>
              </a:defRPr>
            </a:pPr>
            <a:r>
              <a:t>Suitable as the final model for this dataset.</a:t>
            </a:r>
          </a:p>
        </p:txBody>
      </p:sp>
      <p:pic>
        <p:nvPicPr>
          <p:cNvPr id="22" name="Picture 21" descr="10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325880"/>
            <a:ext cx="4114800" cy="30632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915400" y="1325880"/>
            <a:ext cx="265176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325880"/>
            <a:ext cx="50292" cy="4480560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600200"/>
            <a:ext cx="214884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057400"/>
            <a:ext cx="214884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232F40"/>
                </a:solidFill>
                <a:latin typeface="Aptos"/>
              </a:defRPr>
            </a:pPr>
            <a:r>
              <a:t>• TimeSpentOnWebsite is the most influential feature in Random Forest.</a:t>
            </a:r>
          </a:p>
          <a:p>
            <a:pPr>
              <a:spcAft>
                <a:spcPts val="600"/>
              </a:spcAft>
              <a:defRPr sz="1050">
                <a:solidFill>
                  <a:srgbClr val="232F40"/>
                </a:solidFill>
                <a:latin typeface="Aptos"/>
              </a:defRPr>
            </a:pPr>
            <a:r>
              <a:t>• LoyaltyProgram, discounts and purchase history show meaningful relationships with the target.</a:t>
            </a:r>
          </a:p>
          <a:p>
            <a:pPr>
              <a:spcAft>
                <a:spcPts val="600"/>
              </a:spcAft>
              <a:defRPr sz="1050">
                <a:solidFill>
                  <a:srgbClr val="232F40"/>
                </a:solidFill>
                <a:latin typeface="Aptos"/>
              </a:defRPr>
            </a:pPr>
            <a:r>
              <a:t>• Feature importance describes model behaviour; it does not prove causation.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526280"/>
            <a:ext cx="2103120" cy="6858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162338"/>
                </a:solidFill>
                <a:latin typeface="Aptos"/>
              </a:defRPr>
            </a:pPr>
            <a:r>
              <a:t>Sample customer:</a:t>
            </a:r>
          </a:p>
          <a:p>
            <a:pPr algn="l">
              <a:spcAft>
                <a:spcPts val="400"/>
              </a:spcAft>
              <a:defRPr sz="1150" b="1">
                <a:solidFill>
                  <a:srgbClr val="162338"/>
                </a:solidFill>
                <a:latin typeface="Aptos"/>
              </a:defRPr>
            </a:pPr>
            <a:r>
              <a:t>Purchase probability ≈ 97.28%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18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8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778C"/>
                </a:solidFill>
                <a:latin typeface="Aptos"/>
              </a:defRPr>
            </a:pPr>
            <a:r>
              <a:t>What the project achieved and how it can be extended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78C"/>
                </a:solidFill>
                <a:latin typeface="Aptos"/>
              </a:defRPr>
            </a:pPr>
            <a:r>
              <a:t>ML MINI PROJECT  •  E-COMMERCE  •  CUSTOMER PURCHASE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8778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55321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50292" cy="4526280"/>
          </a:xfrm>
          <a:prstGeom prst="rect">
            <a:avLst/>
          </a:prstGeom>
          <a:solidFill>
            <a:srgbClr val="2B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664208"/>
            <a:ext cx="502920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84831"/>
            <a:ext cx="4937760" cy="3063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32F40"/>
                </a:solidFill>
                <a:latin typeface="Aptos"/>
              </a:defRPr>
            </a:pPr>
            <a:r>
              <a:t>• Built a complete ML workflow for e-commerce purchase prediction.</a:t>
            </a:r>
          </a:p>
          <a:p>
            <a:pPr>
              <a:spcAft>
                <a:spcPts val="600"/>
              </a:spcAft>
              <a:defRPr sz="1100">
                <a:solidFill>
                  <a:srgbClr val="232F40"/>
                </a:solidFill>
                <a:latin typeface="Aptos"/>
              </a:defRPr>
            </a:pPr>
            <a:r>
              <a:t>• Cleaned the dataset and removed 112 duplicate records.</a:t>
            </a:r>
          </a:p>
          <a:p>
            <a:pPr>
              <a:spcAft>
                <a:spcPts val="600"/>
              </a:spcAft>
              <a:defRPr sz="1100">
                <a:solidFill>
                  <a:srgbClr val="232F40"/>
                </a:solidFill>
                <a:latin typeface="Aptos"/>
              </a:defRPr>
            </a:pPr>
            <a:r>
              <a:t>• Performed 7 EDA visualizations to understand purchase behaviour.</a:t>
            </a:r>
          </a:p>
          <a:p>
            <a:pPr>
              <a:spcAft>
                <a:spcPts val="600"/>
              </a:spcAft>
              <a:defRPr sz="1100">
                <a:solidFill>
                  <a:srgbClr val="232F40"/>
                </a:solidFill>
                <a:latin typeface="Aptos"/>
              </a:defRPr>
            </a:pPr>
            <a:r>
              <a:t>• Compared Logistic Regression, Decision Tree and Random Forest.</a:t>
            </a:r>
          </a:p>
          <a:p>
            <a:pPr>
              <a:spcAft>
                <a:spcPts val="600"/>
              </a:spcAft>
              <a:defRPr sz="1100">
                <a:solidFill>
                  <a:srgbClr val="232F40"/>
                </a:solidFill>
                <a:latin typeface="Aptos"/>
              </a:defRPr>
            </a:pPr>
            <a:r>
              <a:t>• Random Forest achieved 92.81% accuracy and 92.25% F1-score.</a:t>
            </a:r>
          </a:p>
          <a:p>
            <a:pPr>
              <a:spcAft>
                <a:spcPts val="600"/>
              </a:spcAft>
              <a:defRPr sz="1100">
                <a:solidFill>
                  <a:srgbClr val="232F40"/>
                </a:solidFill>
                <a:latin typeface="Aptos"/>
              </a:defRPr>
            </a:pPr>
            <a:r>
              <a:t>• Demonstrated a final purchase prediction for a sample customer.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71600"/>
            <a:ext cx="52120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371600"/>
            <a:ext cx="50292" cy="4526280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664208"/>
            <a:ext cx="4709160" cy="29260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338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084831"/>
            <a:ext cx="4617720" cy="3063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32F40"/>
                </a:solidFill>
                <a:latin typeface="Aptos"/>
              </a:defRPr>
            </a:pPr>
            <a:r>
              <a:t>• Use a larger and more diverse dataset.</a:t>
            </a:r>
          </a:p>
          <a:p>
            <a:pPr>
              <a:spcAft>
                <a:spcPts val="600"/>
              </a:spcAft>
              <a:defRPr sz="1100">
                <a:solidFill>
                  <a:srgbClr val="232F40"/>
                </a:solidFill>
                <a:latin typeface="Aptos"/>
              </a:defRPr>
            </a:pPr>
            <a:r>
              <a:t>• Add richer customer/session-level features.</a:t>
            </a:r>
          </a:p>
          <a:p>
            <a:pPr>
              <a:spcAft>
                <a:spcPts val="600"/>
              </a:spcAft>
              <a:defRPr sz="1100">
                <a:solidFill>
                  <a:srgbClr val="232F40"/>
                </a:solidFill>
                <a:latin typeface="Aptos"/>
              </a:defRPr>
            </a:pPr>
            <a:r>
              <a:t>• Apply hyperparameter tuning and cross-validation.</a:t>
            </a:r>
          </a:p>
          <a:p>
            <a:pPr>
              <a:spcAft>
                <a:spcPts val="600"/>
              </a:spcAft>
              <a:defRPr sz="1100">
                <a:solidFill>
                  <a:srgbClr val="232F40"/>
                </a:solidFill>
                <a:latin typeface="Aptos"/>
              </a:defRPr>
            </a:pPr>
            <a:r>
              <a:t>• Compare additional models such as Gradient Boosting or SVM.</a:t>
            </a:r>
          </a:p>
          <a:p>
            <a:pPr>
              <a:spcAft>
                <a:spcPts val="600"/>
              </a:spcAft>
              <a:defRPr sz="1100">
                <a:solidFill>
                  <a:srgbClr val="232F40"/>
                </a:solidFill>
                <a:latin typeface="Aptos"/>
              </a:defRPr>
            </a:pPr>
            <a:r>
              <a:t>• Deploy the model as a real-time prediction service.</a:t>
            </a:r>
          </a:p>
          <a:p>
            <a:pPr>
              <a:spcAft>
                <a:spcPts val="600"/>
              </a:spcAft>
              <a:defRPr sz="1100">
                <a:solidFill>
                  <a:srgbClr val="232F40"/>
                </a:solidFill>
                <a:latin typeface="Aptos"/>
              </a:defRPr>
            </a:pPr>
            <a:r>
              <a:t>• Use predictions for personalized offers and customer engagement.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18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92608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2338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8778C"/>
                </a:solidFill>
                <a:latin typeface="Aptos"/>
              </a:defRPr>
            </a:pPr>
            <a:r>
              <a:t>Sources used for the project, analysis and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8778C"/>
                </a:solidFill>
                <a:latin typeface="Aptos"/>
              </a:defRPr>
            </a:pPr>
            <a:r>
              <a:t>ML MINI PROJECT  •  E-COMMERCE  •  CUSTOMER PURCHASE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8778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108356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50292" cy="621792"/>
          </a:xfrm>
          <a:prstGeom prst="rect">
            <a:avLst/>
          </a:prstGeom>
          <a:solidFill>
            <a:srgbClr val="2B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3657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B5C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554480"/>
            <a:ext cx="2743200" cy="24688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162338"/>
                </a:solidFill>
                <a:latin typeface="Aptos"/>
              </a:defRPr>
            </a:pPr>
            <a:r>
              <a:t>Project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563624"/>
            <a:ext cx="7498079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232F40"/>
                </a:solidFill>
                <a:latin typeface="Aptos"/>
              </a:defRPr>
            </a:pPr>
            <a:r>
              <a:t>customer_purchase_data.csv — supplied project dataset used for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40280"/>
            <a:ext cx="108356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240280"/>
            <a:ext cx="50292" cy="621792"/>
          </a:xfrm>
          <a:prstGeom prst="rect">
            <a:avLst/>
          </a:prstGeom>
          <a:solidFill>
            <a:srgbClr val="0D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423160"/>
            <a:ext cx="3657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D918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377440"/>
            <a:ext cx="2743200" cy="24688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162338"/>
                </a:solidFill>
                <a:latin typeface="Aptos"/>
              </a:defRPr>
            </a:pPr>
            <a:r>
              <a:t>Project Notebook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386584"/>
            <a:ext cx="7498079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232F40"/>
                </a:solidFill>
                <a:latin typeface="Aptos"/>
              </a:defRPr>
            </a:pPr>
            <a:r>
              <a:t>Customer_Purchase_Prediction.ipynb — Google Colab notebook containing the implementation and results.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63240"/>
            <a:ext cx="108356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063240"/>
            <a:ext cx="50292" cy="621792"/>
          </a:xfrm>
          <a:prstGeom prst="rect">
            <a:avLst/>
          </a:prstGeom>
          <a:solidFill>
            <a:srgbClr val="E2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46120"/>
            <a:ext cx="3657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E2822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200400"/>
            <a:ext cx="2743200" cy="24688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162338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209544"/>
            <a:ext cx="7498079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232F40"/>
                </a:solidFill>
                <a:latin typeface="Aptos"/>
              </a:defRPr>
            </a:pPr>
            <a:r>
              <a:t>https://scikit-learn.org/stable/user_guide.html — ML algorithms and evaluation metrics.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886200"/>
            <a:ext cx="108356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886200"/>
            <a:ext cx="50292" cy="621792"/>
          </a:xfrm>
          <a:prstGeom prst="rect">
            <a:avLst/>
          </a:prstGeom>
          <a:solidFill>
            <a:srgbClr val="704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69080"/>
            <a:ext cx="3657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704CB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023360"/>
            <a:ext cx="2743200" cy="24688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162338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032504"/>
            <a:ext cx="7498079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232F40"/>
                </a:solidFill>
                <a:latin typeface="Aptos"/>
              </a:defRPr>
            </a:pPr>
            <a:r>
              <a:t>https://pandas.pydata.org/docs/ — data loading and manipulation.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709160"/>
            <a:ext cx="108356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709160"/>
            <a:ext cx="50292" cy="621792"/>
          </a:xfrm>
          <a:prstGeom prst="rect">
            <a:avLst/>
          </a:prstGeom>
          <a:solidFill>
            <a:srgbClr val="2D9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92040"/>
            <a:ext cx="3657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2D975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846320"/>
            <a:ext cx="2743200" cy="24688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162338"/>
                </a:solidFill>
                <a:latin typeface="Aptos"/>
              </a:defRPr>
            </a:pPr>
            <a:r>
              <a:t>Faculty Guidelines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855464"/>
            <a:ext cx="7498079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232F40"/>
                </a:solidFill>
                <a:latin typeface="Aptos"/>
              </a:defRPr>
            </a:pPr>
            <a:r>
              <a:t>Machine Learning Mini Project – Assignment Guidelines and Project Domains.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33872"/>
            <a:ext cx="1033272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62338"/>
                </a:solidFill>
                <a:latin typeface="Aptos"/>
              </a:defRPr>
            </a:pPr>
            <a:r>
              <a:t>THANK YOU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